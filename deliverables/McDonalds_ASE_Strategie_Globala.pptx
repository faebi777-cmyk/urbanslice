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63908/000006390825000012/mcd-20241231.htm" TargetMode="External"/><Relationship Id="rId2" Type="http://schemas.openxmlformats.org/officeDocument/2006/relationships/hyperlink" Target="https://corporate.mcdonalds.com/corpmcd/hom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our-company/who-we-are.html" TargetMode="External"/><Relationship Id="rId2" Type="http://schemas.openxmlformats.org/officeDocument/2006/relationships/hyperlink" Target="https://corporate.mcdonalds.com/corpmcd/our-company/who-we-are/accelerating-the-arches.html" TargetMode="External"/><Relationship Id="rId3" Type="http://schemas.openxmlformats.org/officeDocument/2006/relationships/hyperlink" Target="https://corporate.mcdonalds.com/corpmcd/our-company/who-we-are/business-model-and-growth-strategy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our-company/who-we-are/accelerating-the-arches.html" TargetMode="External"/><Relationship Id="rId2" Type="http://schemas.openxmlformats.org/officeDocument/2006/relationships/hyperlink" Target="https://corporate.mcdonalds.com/corpmcd/our-stories/article/mcd-announces-targets-development-loyalty-membership-cloud-tech.html" TargetMode="External"/><Relationship Id="rId3" Type="http://schemas.openxmlformats.org/officeDocument/2006/relationships/hyperlink" Target="https://corporate.mcdonalds.com/corpmcd/our-stories/article/new-growth-strategy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our-company/where-we-operate.html" TargetMode="External"/><Relationship Id="rId2" Type="http://schemas.openxmlformats.org/officeDocument/2006/relationships/hyperlink" Target="https://www.sec.gov/Archives/edgar/data/63908/000006390825000012/mcd-20241231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63908/000006390825000012/mcd-20241231.htm" TargetMode="External"/><Relationship Id="rId2" Type="http://schemas.openxmlformats.org/officeDocument/2006/relationships/hyperlink" Target="https://corporate.mcdonalds.com/corpmcd/our-company/where-we-operat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our-company/who-we-are/business-model-and-growth-strategy.html" TargetMode="External"/><Relationship Id="rId2" Type="http://schemas.openxmlformats.org/officeDocument/2006/relationships/hyperlink" Target="https://corporate.mcdonalds.com/corpmcd/our-company/who-we-are/accelerating-the-arches.html" TargetMode="External"/><Relationship Id="rId3" Type="http://schemas.openxmlformats.org/officeDocument/2006/relationships/hyperlink" Target="https://corporate.mcdonalds.com/corpmcd/our-stories/article/mcd-announces-targets-development-loyalty-membership-cloud-tech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our-company/who-we-are.html" TargetMode="External"/><Relationship Id="rId2" Type="http://schemas.openxmlformats.org/officeDocument/2006/relationships/hyperlink" Target="https://corporate.mcdonalds.com/corpmcd/our-company/who-we-are/business-model-and-growth-strategy.html" TargetMode="External"/><Relationship Id="rId3" Type="http://schemas.openxmlformats.org/officeDocument/2006/relationships/hyperlink" Target="https://www.sec.gov/Archives/edgar/data/63908/000006390825000012/mcd-20241231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our-company/who-we-are.html" TargetMode="External"/><Relationship Id="rId2" Type="http://schemas.openxmlformats.org/officeDocument/2006/relationships/hyperlink" Target="https://corporate.mcdonalds.com/corpmcd/our-company/who-we-are/accelerating-the-arches.html" TargetMode="External"/><Relationship Id="rId3" Type="http://schemas.openxmlformats.org/officeDocument/2006/relationships/hyperlink" Target="https://www.sec.gov/Archives/edgar/data/63908/000006390825000012/mcd-20241231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orporate.mcdonalds.com/corpmcd/home.html" TargetMode="External"/><Relationship Id="rId2" Type="http://schemas.openxmlformats.org/officeDocument/2006/relationships/hyperlink" Target="https://www.sec.gov/Archives/edgar/data/63908/000006390825000012/mcd-20241231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2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05840" cy="10058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McDonald's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EAD1"/>
                </a:solidFill>
              </a:rPr>
              <a:t>Misiune, viziune si prezenta globala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3504" y="2029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AD1"/>
                </a:solidFill>
              </a:rPr>
              <a:t>Proiect - Strategie Globala | ASE anul 1, semestrul 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03720" y="987552"/>
            <a:ext cx="4434840" cy="4389120"/>
          </a:xfrm>
          <a:prstGeom prst="roundRect">
            <a:avLst>
              <a:gd name="adj" fmla="val 1042"/>
            </a:avLst>
          </a:prstGeom>
          <a:solidFill>
            <a:srgbClr val="B11F14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1155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De ce McDonald's?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371600"/>
            <a:ext cx="416052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Brand global emblematic.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Strategie usor de legat de extinderea internationala.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Date publice abundente din surse oficiale.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Exemplu bun de coerenta intre identitate si executie.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598932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EAD1"/>
                </a:solidFill>
              </a:rPr>
              <a:t>Echipa: Colegul 1 | Colegul 2 | Colegul 3 | Colegul 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625449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DFA9"/>
                </a:solidFill>
              </a:rPr>
              <a:t>Surse principale: McDonald's Corporate si McDonald's Annual Report 2024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Profil global al companiei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Imagine de ansamblu pe baza raportarii oficiale.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7218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43.477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" y="185623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restaurante la final de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07792" y="1325880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47218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&gt;100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017520" y="185623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tari in care opereaza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9784" y="1325880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47218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95%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239512" y="185623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restaurante francizate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51776" y="1325880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1472184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2.116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461504" y="185623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restaurante noi in 2024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770632"/>
            <a:ext cx="521208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898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Ce ne arata aceste 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154680"/>
            <a:ext cx="49377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McDonald's este unul dintre cele mai extinse lanturi quick-service din lume.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Modelul este construit pentru scalare globala prin franciza.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Ritmul de deschidere confirma ca dezvoltarea internationala ramane o prioritate.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770632"/>
            <a:ext cx="5303520" cy="2423160"/>
          </a:xfrm>
          <a:prstGeom prst="roundRect">
            <a:avLst>
              <a:gd name="adj" fmla="val 1887"/>
            </a:avLst>
          </a:prstGeom>
          <a:solidFill>
            <a:srgbClr val="F6EAD1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8986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Ideea-cheie pentru proiect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154680"/>
            <a:ext cx="50292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La McDonald's, prezenta globala nu este un rezultat secundar, ci un instrument central prin care compania isi duce misiunea, isi creste relevanta si isi sustine avantajul competitiv.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Annual Report 2024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Corporate Home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Misiunea oficiala si pozitionarea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Misiunea este declarata explicit pe site-ul corporativ.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731520" y="1207008"/>
            <a:ext cx="10561320" cy="914400"/>
          </a:xfrm>
          <a:prstGeom prst="roundRect">
            <a:avLst>
              <a:gd name="adj" fmla="val 4000"/>
            </a:avLst>
          </a:prstGeom>
          <a:solidFill>
            <a:srgbClr val="FFF1ED"/>
          </a:solidFill>
          <a:ln w="16510">
            <a:solidFill>
              <a:srgbClr val="DA29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90472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DA291C"/>
                </a:solidFill>
              </a:rPr>
              <a:t>"Making delicious feel-good moments easy for everyone."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29184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96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Ce nevoie satisface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30175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Hrana rapida, accesibila, familiara si convenabila, livrata intr-o experienta usor de repetat: restaurant, drive-thru, delivery sau digital.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33672" y="2468880"/>
            <a:ext cx="329184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2596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Pentru cine creeaza valoare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70832" y="2852928"/>
            <a:ext cx="30175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Pentru clienti, prin pret si viteza; pentru francizati, prin forta brandului; pentru comunitati, prin locuri de munca; pentru actionari, printr-un model scalabil.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35824" y="2468880"/>
            <a:ext cx="329184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2984" y="2596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Ce o diferentiaza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72984" y="2852928"/>
            <a:ext cx="30175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Brand iconic, retea uriasa, standardizare puternica si adaptare locala a meniului, marketingului si operatiunilor.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We Are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Accelerating the Arches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Model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Viziunea strategica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McDonald's nu afiseaza separat o fraza numita 'vision'; aici este inferenta din sursele oficiale.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469880" cy="1078992"/>
          </a:xfrm>
          <a:prstGeom prst="roundRect">
            <a:avLst>
              <a:gd name="adj" fmla="val 4237"/>
            </a:avLst>
          </a:prstGeom>
          <a:solidFill>
            <a:srgbClr val="3A2A22"/>
          </a:solidFill>
          <a:ln w="1651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27048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 ramane brandul global lider de restaurant omni-channel si a extinde reteaua catre 50.000 de restaurante pana in 2027.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3273552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82549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Orientare pe termen lung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081528"/>
            <a:ext cx="2999232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Strategia 'Accelerating the Arches' inseamna crestere sustinuta, investitii in digital, delivery, drive-thru si dezvoltare de restaurante noi.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2697480"/>
            <a:ext cx="3273552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82549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Ambitie globala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3081528"/>
            <a:ext cx="2999232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Tintirea pragului de 50.000 de restaurante pana in 2027 arata clar intentia de extindere internationala accelerata.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74736" y="2697480"/>
            <a:ext cx="2907792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82549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Relevanta academica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11896" y="3081528"/>
            <a:ext cx="2633472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Viziunea nu este doar despre marime, ci despre leadership global si integrarea tuturor canalelor prin care clientul comanda.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Growth Strategy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Targets 2023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Strategy PR 2020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Prezenta globala: harta regionala simplificata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McDonald's isi grupeaza prezenta in 5 mari regiuni pe pagina oficiala 'Where We Operate'.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786384" y="1207008"/>
            <a:ext cx="10378440" cy="4535424"/>
          </a:xfrm>
          <a:prstGeom prst="roundRect">
            <a:avLst>
              <a:gd name="adj" fmla="val 806"/>
            </a:avLst>
          </a:prstGeom>
          <a:solidFill>
            <a:srgbClr val="FFFDF9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28800"/>
            <a:ext cx="21031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56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North America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212848"/>
            <a:ext cx="18288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SUA, Canada, Mexic,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Puerto Rico, Panama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3566160"/>
            <a:ext cx="17830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694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South America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3950208"/>
            <a:ext cx="1508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Brazilia, Argentina,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Chile, Peru, Uruguay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15544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6824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Europa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Romania, Franta,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Germania, UK, Polonia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315468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2826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Africa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3538728"/>
            <a:ext cx="14173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Egipt, Maroc,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Africa de Sud, Tunisia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92024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0482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Asia &amp; Oceanic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2304288"/>
            <a:ext cx="2788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China, Japonia, India,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Australia, Coreea de Sud,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Singapore, Vietnam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A2A22"/>
                </a:solidFill>
              </a:rPr>
              <a:t>Observatie: prezenta este foarte larga, dar cu concentrari puternice in SUA, Europa si Asia/Oceania.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Where We Operate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Annual Report 2024</a:t>
            </a:r>
            <a:endParaRPr lang="en-US" sz="8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Piete-cheie si structura geografica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Raportarea McDonald's separa reteaua in trei segmente majore.</a:t>
            </a:r>
            <a:endParaRPr lang="en-US" sz="103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469880" cy="2395728"/>
        </p:xfrm>
        <a:graphic>
          <a:graphicData uri="http://schemas.openxmlformats.org/drawingml/2006/table">
            <a:tbl>
              <a:tblPr/>
              <a:tblGrid>
                <a:gridCol w="2240280"/>
                <a:gridCol w="1371600"/>
                <a:gridCol w="356616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Segment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Restaurante 2024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Rol strategic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Exemple oficiale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SUA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13.557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Cea mai mare piata; baza pentru testare, brand si profitabilitate.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Statele Unite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International Operated Markets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10.512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Piete mature importante, operate si francizate de companie.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Australia, Canada, Franta, Germania, Italia, Polonia, Spania, UK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International Developmental Licensed Markets &amp; Corporate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19.408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Extindere larga prin parteneri/licentiati; crestere si adaptare locala.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3A2A22"/>
                          </a:solidFill>
                        </a:rPr>
                        <a:t>Include, printre altele, China si Japonia</a:t>
                      </a:r>
                      <a:endParaRPr lang="en-US" sz="111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4096512"/>
            <a:ext cx="4937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4224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Concluzie de lectura a structurii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" y="4480560"/>
            <a:ext cx="46634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Prezenta globala este larga dispersata, dar gestionata diferit: direct in pietele foarte importante si prin licente/francize acolo unde adaptarea locala si scalarea rapida sunt mai eficiente.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9320" y="4096512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9048" y="4242816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95%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099048" y="4626864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francizat - total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4096512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82128" y="4242816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89%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882128" y="4626864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francizat - IOM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555480" y="4096512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65208" y="4242816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99%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665208" y="4626864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francizat - IDL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Annual Report 2024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Where We Operate</a:t>
            </a:r>
            <a:endParaRPr lang="en-US" sz="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Legatura dintre strategie si prezenta globala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Extinderea internationala sustine direct strategia oficiala 'Accelerating the Arches'.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45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Mission fit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801368"/>
            <a:ext cx="30175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Daca misiunea este sa ofere momente delicioase si usor accesibile tuturor, atunci densitatea mare de restaurante si proximitatea fata de client sunt esentiale.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3984" y="141732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45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Omni-channel fit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1144" y="1801368"/>
            <a:ext cx="30175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Prezenta larga permite dezvoltarea canalelor delivery, digital si drive-thru la scara mare, nu doar in cateva tari izolate.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29260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545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Development 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1801368"/>
            <a:ext cx="26517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Obiectivul de 50.000 de restaurante pana in 2027 transforma expansiunea geografica intr-un obiectiv explicit, masurabil.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3429000"/>
            <a:ext cx="507492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5701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De ce functioneaza modelul McDonald's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3813048"/>
            <a:ext cx="48006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Compania combina standardizarea globala a marcii si operatiunilor cu libertate locala in meniu, marketing si implicare comunitara.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3429000"/>
            <a:ext cx="4974336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3557016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Exemple concrete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3813048"/>
            <a:ext cx="4700016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McDonald's vorbeste oficial despre 'freedom within a framework', despre proximitatea fata de client pentru delivery si despre noi restaurante in piete cu randamente puternice si potential pe termen lung.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Model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Growth Strategy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Targets 2023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Este prezenta globala coerenta cu identitatea strategica?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Evaluare sintetica a coerentei dintre identitate, strategie si geografie.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804672" y="13258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7218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Da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coerenta generala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3258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7218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Ridicata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91840" y="18562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aliniere misiune-expansiune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59552" y="132588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47218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Foarte buna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0" y="18562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aliniere strategie-canale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36992" y="132588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47218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A291C"/>
                </a:solidFill>
              </a:rPr>
              <a:t>Controlata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046720" y="185623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A22"/>
                </a:solidFill>
              </a:rPr>
              <a:t>adaptare locala in cadru comun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" y="2788920"/>
            <a:ext cx="33375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2916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Argument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3172968"/>
            <a:ext cx="30632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Misiunea pune accent pe accesibilitate si usurinta, iar reteaua globala exact asta livreaza: acces rapid si repetabil pentru milioane de clienti.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16552" y="2788920"/>
            <a:ext cx="333756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916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Argument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3712" y="3172968"/>
            <a:ext cx="30632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Viziunea urmareste leadership global omni-channel; aceasta nu poate exista fara prezenta fizica larga si infrastructura internationala robusta.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28432" y="2788920"/>
            <a:ext cx="27432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2916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Argument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65592" y="3172968"/>
            <a:ext cx="246888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Franciza ajuta compania sa creasca global fara sa piarda ancorarea locala in comunitatile servite.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We Are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Model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Annual Report 2024</a:t>
            </a:r>
            <a:endParaRPr lang="en-US" sz="8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Concluzii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Mesajul final al echipei.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10195560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53896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Concluzie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992124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783080"/>
            <a:ext cx="946404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3A2A22"/>
                </a:solidFill>
              </a:rPr>
              <a:t>McDonald's are o misiune clara si usor de conectat cu activitatea sa internationala.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3A2A22"/>
                </a:solidFill>
              </a:rPr>
              <a:t>Viziunea strategica poate fi citita din sursele oficiale ca dorinta de a ramane lider global omni-channel si de a accelera cresterea la 50.000 de restaurante pana in 2027.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3A2A22"/>
                </a:solidFill>
              </a:rPr>
              <a:t>Prezenta companiei este larga dispersata la nivel global, dar cu piete-cheie foarte importante in SUA, Europa si Asia.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3A2A22"/>
                </a:solidFill>
              </a:rPr>
              <a:t>Strategia si prezenta globala sunt coerente: extinderea nu contrazice identitatea McDonald's, ci o operationalizeaza.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70432" y="4498848"/>
            <a:ext cx="9235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A291C"/>
                </a:solidFill>
              </a:rPr>
              <a:t>Concluzia echipei: McDonald's este un exemplu puternic de companie globala in care misiunea, modelul de business, strategia si geografia internationala functioneaza in aceeasi directie.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We Are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Growth Strategy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Annual Report 2024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67512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754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Surse oficiale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504" y="8503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6666"/>
                </a:solidFill>
              </a:rPr>
              <a:t>Linkuri utile pentru bibliografie si intrebari din partea cadrului didactic.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749808" y="1280160"/>
            <a:ext cx="104241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E8D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08176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291C"/>
                </a:solidFill>
              </a:rPr>
              <a:t>Bibliografie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664208"/>
            <a:ext cx="1014984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1. McDonald's Corporate - Who We 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https://corporate.mcdonalds.com/corpmcd/our-company/who-we-are.html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2. McDonald's Corporate - Accelerating the Arches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https://corporate.mcdonalds.com/corpmcd/our-company/who-we-are/accelerating-the-arches.html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3. McDonald's Corporate - Where We Operate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https://corporate.mcdonalds.com/corpmcd/our-company/where-we-operate.html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4. McDonald's Corporate - Business Model and Growth 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https://corporate.mcdonalds.com/corpmcd/our-company/who-we-are/business-model-and-growth-strategy.html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5. McDonald's press release - New Growth Strategy (2020)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https://corporate.mcdonalds.com/corpmcd/our-stories/article/new-growth-strategy.html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6. McDonald's press release - New Targets for Development (2023)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https://corporate.mcdonalds.com/corpmcd/our-stories/article/mcd-announces-targets-development-loyalty-membership-cloud-tech.html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7. McDonald's Annual Report 2024 / Form 10-K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</a:rPr>
              <a:t>https://www.sec.gov/Archives/edgar/data/63908/000006390825000012/mcd-20241231.htm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6144768"/>
            <a:ext cx="10424160" cy="0"/>
          </a:xfrm>
          <a:prstGeom prst="line">
            <a:avLst/>
          </a:prstGeom>
          <a:noFill/>
          <a:ln w="12700">
            <a:solidFill>
              <a:srgbClr val="E8D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217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Surse: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620877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McDonald's Corporate</a:t>
            </a:r>
            <a:pPr indent="0" marL="0">
              <a:buNone/>
            </a:pPr>
            <a:r>
              <a:rPr lang="en-US" sz="810" dirty="0">
                <a:solidFill>
                  <a:srgbClr val="666666"/>
                </a:solidFill>
              </a:rPr>
              <a:t> | </a:t>
            </a:r>
            <a:pPr indent="0" marL="0">
              <a:buNone/>
            </a:pPr>
            <a:r>
              <a:rPr lang="en-US" sz="810" u="sng" dirty="0">
                <a:solidFill>
                  <a:srgbClr val="DA291C"/>
                </a:solidFill>
                <a:uFill>
                  <a:solidFill>
                    <a:srgbClr val="DA291C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 Filing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- Strategie Globala</dc:title>
  <dc:subject>McDonald's - Strategie Globala</dc:subject>
  <dc:creator>OpenAI Codex</dc:creator>
  <cp:lastModifiedBy>OpenAI Codex</cp:lastModifiedBy>
  <cp:revision>1</cp:revision>
  <dcterms:created xsi:type="dcterms:W3CDTF">2026-03-29T22:57:02Z</dcterms:created>
  <dcterms:modified xsi:type="dcterms:W3CDTF">2026-03-29T22:57:02Z</dcterms:modified>
</cp:coreProperties>
</file>